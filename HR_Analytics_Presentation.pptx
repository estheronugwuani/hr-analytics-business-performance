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1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Research &amp; Development</c:v>
                </c:pt>
                <c:pt idx="1">
                  <c:v>Human Resources</c:v>
                </c:pt>
                <c:pt idx="2">
                  <c:v>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13.81</c:v>
                </c:pt>
                <c:pt idx="1">
                  <c:v>19.05</c:v>
                </c:pt>
                <c:pt idx="2">
                  <c:v>20.58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66-4709-9E61-429E37B213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12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Rate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FA-480F-B76C-CC87377A916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0FA-480F-B76C-CC87377A916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0FA-480F-B76C-CC87377A916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0FA-480F-B76C-CC87377A916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0FA-480F-B76C-CC87377A916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0FA-480F-B76C-CC87377A916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0FA-480F-B76C-CC87377A916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D0FA-480F-B76C-CC87377A916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D0FA-480F-B76C-CC87377A916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12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Laboratory Technician</c:v>
                </c:pt>
                <c:pt idx="1">
                  <c:v>Human Resources</c:v>
                </c:pt>
                <c:pt idx="2">
                  <c:v>Manager</c:v>
                </c:pt>
                <c:pt idx="3">
                  <c:v>Manufacturing Director</c:v>
                </c:pt>
                <c:pt idx="4">
                  <c:v>Healthcare Representative</c:v>
                </c:pt>
                <c:pt idx="5">
                  <c:v>Sales Representative</c:v>
                </c:pt>
                <c:pt idx="6">
                  <c:v>Research Director</c:v>
                </c:pt>
                <c:pt idx="7">
                  <c:v>Sales Executive</c:v>
                </c:pt>
                <c:pt idx="8">
                  <c:v>Research Scientist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23.85</c:v>
                </c:pt>
                <c:pt idx="1">
                  <c:v>25</c:v>
                </c:pt>
                <c:pt idx="2">
                  <c:v>26.47</c:v>
                </c:pt>
                <c:pt idx="3">
                  <c:v>26.9</c:v>
                </c:pt>
                <c:pt idx="4">
                  <c:v>28.03</c:v>
                </c:pt>
                <c:pt idx="5">
                  <c:v>28.57</c:v>
                </c:pt>
                <c:pt idx="6">
                  <c:v>28.75</c:v>
                </c:pt>
                <c:pt idx="7">
                  <c:v>28.83</c:v>
                </c:pt>
                <c:pt idx="8">
                  <c:v>33.22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0FA-480F-B76C-CC87377A91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12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Satisfaction</c:v>
                </c:pt>
              </c:strCache>
            </c:strRef>
          </c:tx>
          <c:spPr>
            <a:ln w="31750" cap="flat">
              <a:solidFill>
                <a:srgbClr val="E854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543F"/>
              </a:solidFill>
              <a:ln w="9525" cap="flat">
                <a:solidFill>
                  <a:srgbClr val="E8543F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12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22.76</c:v>
                </c:pt>
                <c:pt idx="1">
                  <c:v>16.43</c:v>
                </c:pt>
                <c:pt idx="2">
                  <c:v>16.48</c:v>
                </c:pt>
                <c:pt idx="3">
                  <c:v>11.3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86-4071-915D-F73D8301AD0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6B7280"/>
                    </a:solidFill>
                    <a:latin typeface="Arial"/>
                  </a:rPr>
                  <a:t>Satisfaction Level (1=Low, 4=High)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Environment Satisfaction</c:v>
                </c:pt>
              </c:strCache>
            </c:strRef>
          </c:tx>
          <c:spPr>
            <a:ln w="31750" cap="flat">
              <a:solidFill>
                <a:srgbClr val="E854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543F"/>
              </a:solidFill>
              <a:ln w="9525" cap="flat">
                <a:solidFill>
                  <a:srgbClr val="E8543F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12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25.35</c:v>
                </c:pt>
                <c:pt idx="1">
                  <c:v>14.98</c:v>
                </c:pt>
                <c:pt idx="2">
                  <c:v>13.66</c:v>
                </c:pt>
                <c:pt idx="3">
                  <c:v>13.39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67-4C34-9E41-BB47F544545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6B7280"/>
                    </a:solidFill>
                    <a:latin typeface="Arial"/>
                  </a:rPr>
                  <a:t>Satisfaction Level (1=Low, 4=High)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Relationship Satisfaction</c:v>
                </c:pt>
              </c:strCache>
            </c:strRef>
          </c:tx>
          <c:spPr>
            <a:ln w="31750" cap="flat">
              <a:solidFill>
                <a:srgbClr val="E854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543F"/>
              </a:solidFill>
              <a:ln w="9525" cap="flat">
                <a:solidFill>
                  <a:srgbClr val="E8543F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12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20.58</c:v>
                </c:pt>
                <c:pt idx="1">
                  <c:v>14.85</c:v>
                </c:pt>
                <c:pt idx="2">
                  <c:v>15.43</c:v>
                </c:pt>
                <c:pt idx="3">
                  <c:v>14.78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4C-4274-89FC-A5E40BF50A8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6B7280"/>
                    </a:solidFill>
                    <a:latin typeface="Arial"/>
                  </a:rPr>
                  <a:t>Satisfaction Level (1=Low, 4=High)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3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129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81.819999999999993</c:v>
                </c:pt>
                <c:pt idx="1">
                  <c:v>79.510000000000005</c:v>
                </c:pt>
                <c:pt idx="2">
                  <c:v>82.6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E9-4D61-A19A-5A67C38902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Rating 4 (Top Performer)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129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18.18</c:v>
                </c:pt>
                <c:pt idx="1">
                  <c:v>20.49</c:v>
                </c:pt>
                <c:pt idx="2">
                  <c:v>17.399999999999999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E9-4D61-A19A-5A67C389028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12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E212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61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 &amp;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PERFORMANCE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Exploratory Data Analysis  •  KPI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MetroBlue Tech Systems Ltd.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Ref: HRAN-DA-2026-07  |  Prepared by: </a:t>
            </a:r>
            <a:r>
              <a:rPr lang="en-US" sz="12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Esther  Onugwu-Ani</a:t>
            </a:r>
          </a:p>
          <a:p>
            <a:pPr marL="0" indent="0">
              <a:buNone/>
            </a:pPr>
            <a:r>
              <a:rPr lang="en-US" sz="1200" dirty="0" smtClean="0"/>
              <a:t>                                                                                      </a:t>
            </a:r>
            <a:r>
              <a:rPr lang="en-US" sz="1200" dirty="0" smtClean="0">
                <a:solidFill>
                  <a:schemeClr val="bg1">
                    <a:lumMod val="95000"/>
                  </a:schemeClr>
                </a:solidFill>
              </a:rPr>
              <a:t>Data Analyst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IN THIS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Data Cleaning, EDA, and KPI Table Creation — the foundation the dashboard and management report build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filled missing values, fixed inconsistent entries, checked for outliers.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402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attrition, overtime, satisfaction, and performance patterns across the workforce.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2402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3063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Table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6576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7 core KPIs requested in the brief, ready for the dashboard and report teams.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&amp; Business Performance Analysis  |  HRAN-DA-2026-07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1,480 records reviewed → 1,473 clean records retained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515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8928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removed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31343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matches across all 38 fields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0515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90088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30083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filled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342900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YearsWithCurrManager — filled with median (3) to avoid skew distortion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0515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05656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41239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entries corrected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454456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BusinessTravel: “TravelRarely” standardized to “Travel_Rarely”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10515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21224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5239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found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5660136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numeric fields checked (income, tenure, age) — all within logical range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38160" y="187452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flagged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4688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Over18 column is a constant value (“Y”) across all 1,473 records — carries no analytical value and can be excluded from further analysis.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&amp; Business Performance Analysis  |  HRAN-DA-2026-07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BY DEPARTMENT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is losing the most people?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38160" y="2148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has the highest attrition rate at 20.58%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38160" y="30175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the company average of 16.09%. R&amp;D retains employees best at 13.81%.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5120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is flagged as a priority area for retention review.</a:t>
            </a:r>
            <a:endParaRPr lang="en-US" sz="12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&amp; Business Performance Analysis  |  HRAN-DA-2026-07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BY JOB ROLE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roles are working overtime the most?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10642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&amp; Business Performance Analysis  |  HRAN-DA-2026-07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vs. ATTRITION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low satisfaction drive people to leave?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3520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34340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Satisfaction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343400" y="1920240"/>
          <a:ext cx="3520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13816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Satisfaction</a:t>
            </a:r>
            <a:endParaRPr lang="en-US" sz="13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8138160" y="1920240"/>
          <a:ext cx="35204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22960" y="5193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dimensions, the lowest satisfaction level shows the highest attrition. Environment Satisfaction shows the strongest effect (25.35% vs 13.39% — nearly double), suggesting workplace environment improvements could have the biggest impact on retention.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&amp; Business Performance Analysis  |  HRAN-DA-2026-07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RATINGS BY DEPARTMENT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compare across departments?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38160" y="2148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ratings of 3 and 4 exist in this dataset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employees are recorded with a rating of 1 or 2 — flagged as a data anomaly for further review.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411480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has the most top performers (20.49%). Sales has the fewest (17.40%) — consistent with Sales also having the highest attrition.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&amp; Business Performance Analysis  |  HRAN-DA-2026-07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scoreboard — feeds directly into the dashboard and management report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25496" y="182880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E8543F"/>
          </a:solidFill>
          <a:ln w="12700">
            <a:solidFill>
              <a:srgbClr val="E854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5496" y="1965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16.09%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25496" y="269748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182880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1965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₦6,500.23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02352" y="269748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79208" y="182880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9208" y="1965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28.24%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79208" y="269748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6064" y="182880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6064" y="1965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96.33%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56064" y="269748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Participation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5212080" cy="11125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Department Distribution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Research &amp; Development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65.38%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30.35%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Human Resources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4.28%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520440"/>
          <a:ext cx="5440680" cy="111252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Avg. Satisfaction Scores (of 4)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Job Satisfaction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2.73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Environment Satisfaction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2.72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Relationship Satisfaction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2.71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Training Participation Rate is derived from TrainingTimesLastYear (&gt;0 sessions = participated), as the dataset has no direct participation flag.</a:t>
            </a:r>
            <a:endParaRPr lang="en-US" sz="105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RISKS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should act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7306B"/>
          </a:solidFill>
          <a:ln w="12700">
            <a:solidFill>
              <a:srgbClr val="273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8543F"/>
          </a:solidFill>
          <a:ln w="12700">
            <a:solidFill>
              <a:srgbClr val="E854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attrition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attrition (20.58%) and fewest top performers (17.40%) — priority for retention review.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7306B"/>
          </a:solidFill>
          <a:ln w="12700">
            <a:solidFill>
              <a:srgbClr val="273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57400"/>
            <a:ext cx="457200" cy="457200"/>
          </a:xfrm>
          <a:prstGeom prst="ellipse">
            <a:avLst/>
          </a:prstGeom>
          <a:solidFill>
            <a:srgbClr val="E8543F"/>
          </a:solidFill>
          <a:ln w="12700">
            <a:solidFill>
              <a:srgbClr val="E854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011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Scientist overtime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51460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overtime rate (33.22%) — monitor as a leading indicator of future attrition, even though R&amp;D attrition is currently 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7306B"/>
          </a:solidFill>
          <a:ln w="12700">
            <a:solidFill>
              <a:srgbClr val="273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E8543F"/>
          </a:solidFill>
          <a:ln w="12700">
            <a:solidFill>
              <a:srgbClr val="E854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97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satisfaction gap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 to attrition of the three satisfaction types — highest-leverage area for improvement.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7306B"/>
          </a:solidFill>
          <a:ln w="12700">
            <a:solidFill>
              <a:srgbClr val="2730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E8543F"/>
          </a:solidFill>
          <a:ln w="12700">
            <a:solidFill>
              <a:srgbClr val="E854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297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rating anomaly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80060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employees rated 1 or 2 across the entire dataset — possible rating compression or incomplete records.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1,473 records cleaned and verified. 4 EDA questions answered with clear, data-backed findings. 7 KPIs built and ready for the dashboard and management report.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714</Words>
  <Application>Microsoft Office PowerPoint</Application>
  <PresentationFormat>Widescreen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5</cp:revision>
  <dcterms:created xsi:type="dcterms:W3CDTF">2026-07-16T12:37:48Z</dcterms:created>
  <dcterms:modified xsi:type="dcterms:W3CDTF">2026-09-25T11:09:11Z</dcterms:modified>
</cp:coreProperties>
</file>